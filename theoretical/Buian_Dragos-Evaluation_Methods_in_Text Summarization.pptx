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5814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Core Challenge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350657"/>
            <a:ext cx="3482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Evaluation Is Hard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93180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Evaluating a summary requires assessing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fluency, coherence, relevance,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factual consistency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it is a highly subjective problem. Human evaluation is the gold standard but it is time-consuming and hard to scale.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5224582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metrics aim to correlate with human judgment, but each generation of models has exposed new failure modes in existing metrics.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17934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ROUGE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258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9376" y="2233136"/>
            <a:ext cx="634507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ROUGE-N counts matching n-grams between the candidate and reference summary, divided by total n-grams in the reference.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376" y="3027759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9376" y="3508891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376" y="4058126"/>
            <a:ext cx="6345079" cy="112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4058126"/>
            <a:ext cx="6345079" cy="11275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73566" y="17258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Critical Limitations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573566" y="2256473"/>
            <a:ext cx="6345079" cy="1591032"/>
          </a:xfrm>
          <a:prstGeom prst="roundRect">
            <a:avLst>
              <a:gd name="adj" fmla="val 689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706" y="2256473"/>
            <a:ext cx="91440" cy="1591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70508" y="248483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Paraphrase Penalty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870508" y="2992160"/>
            <a:ext cx="581977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car sped up quickly" scores zero against "the automobile accelerated rapidly."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573566" y="4033718"/>
            <a:ext cx="6345079" cy="1591032"/>
          </a:xfrm>
          <a:prstGeom prst="roundRect">
            <a:avLst>
              <a:gd name="adj" fmla="val 689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06" y="4033718"/>
            <a:ext cx="91440" cy="1591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70508" y="4262080"/>
            <a:ext cx="258044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Blindness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870508" y="4769406"/>
            <a:ext cx="581977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Adding or removing "not" barely changes the score but flips meaning entirely.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573566" y="5810964"/>
            <a:ext cx="6345079" cy="1591032"/>
          </a:xfrm>
          <a:prstGeom prst="roundRect">
            <a:avLst>
              <a:gd name="adj" fmla="val 689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706" y="5810964"/>
            <a:ext cx="91440" cy="1591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70508" y="6039326"/>
            <a:ext cx="262854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Hallucination-Blind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7870508" y="6546652"/>
            <a:ext cx="581977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summaries with wrong facts (dates, names, figures) can still score high.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0760"/>
            <a:ext cx="96658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BERTScore: Semantic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970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Zhang et al. (2019)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BERTScore leverages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BERT's contextual embeddings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(Devlin et al., 2019) to evaluate meaning rather than surface vocabulary.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50657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484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Embed Tokens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97514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contextual BERT embeddings for all tokens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350657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484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Pairwise Similarity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97514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 cosine similarity between token embeddings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350657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484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Aggregate Scores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97514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 Precision, Recall, and F1 from matches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1829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Because "automobile" and "car" occupy similar positions in the semantic vector space, BERTScore correctly rewards valid paraphrasing, resolving ROUGE's core failure mode.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3663"/>
            <a:ext cx="8434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BERTScore's Remaining Gap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60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90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It Solves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7208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BERTScore successfully rewards abstractive models for semantic preservation, making it vastly superior for evaluating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fluency and relevance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compared to ROUGE.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3464123"/>
            <a:ext cx="6571417" cy="2463641"/>
          </a:xfrm>
          <a:prstGeom prst="roundRect">
            <a:avLst>
              <a:gd name="adj" fmla="val 1381"/>
            </a:avLst>
          </a:prstGeom>
          <a:solidFill>
            <a:srgbClr val="403CCF"/>
          </a:solidFill>
          <a:ln/>
        </p:spPr>
      </p:sp>
      <p:sp>
        <p:nvSpPr>
          <p:cNvPr id="7" name="Text 5"/>
          <p:cNvSpPr/>
          <p:nvPr/>
        </p:nvSpPr>
        <p:spPr>
          <a:xfrm>
            <a:off x="7662982" y="3690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It Misses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272082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BERTScore still compares against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reference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the source document. It cannot cross-examine whether generated facts are accurate — leaving it vulnerable 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hallucinations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82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10979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SummaC: Factual Verification via NLI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54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Laban et al. (2022)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SummaC frames evaluation as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Inference (NLI)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task — entirely reference-free.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16417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Chunking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409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document and summary are each split into individual sentences.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716417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NLI Matrix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340906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source–summary sentence pair is scored for entailment probability via RoBERTa-large-MNLI.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716417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340906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entailment per summary sentence is averaged into a global consistency score.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1978"/>
            <a:ext cx="5900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SummaC: The Math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7733"/>
            <a:ext cx="33418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NLI Entailment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59123"/>
            <a:ext cx="6244709" cy="786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59123"/>
            <a:ext cx="6244709" cy="786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532709"/>
            <a:ext cx="3686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Global Consistency Score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174099"/>
            <a:ext cx="6244709" cy="946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174099"/>
            <a:ext cx="6244709" cy="9464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9521" y="2817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It Works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599521" y="339887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source document acts as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Premise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the generated summary acts as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Hypothesis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High entailment = factually consistent. High contradiction or neutral = hallucination detected.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599521" y="5105638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457349"/>
            <a:ext cx="283488" cy="226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36637" y="5389126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SummaC operates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human reference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it verifies facts directly against the source.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8628"/>
            <a:ext cx="118912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Meta-Evaluation: SummEval Benchmark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0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Fabbri et al. (2021)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introduced SummEval to assess how well automated metrics correlate with human judgment across four dimensions: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Coherence, Consistency, Fluency,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Relevance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519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170045"/>
            <a:ext cx="13042821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4170045"/>
            <a:ext cx="6521410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4396859"/>
            <a:ext cx="3036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Fluency &amp; Relevance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488727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BERTScore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significantly outperforms ROUGE for abstractive summaries; contextual embeddings reward valid paraphrasing that ROUGE penalizes.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315200" y="4170045"/>
            <a:ext cx="6521410" cy="2032754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4170045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Text 9"/>
          <p:cNvSpPr/>
          <p:nvPr/>
        </p:nvSpPr>
        <p:spPr>
          <a:xfrm>
            <a:off x="7542014" y="4396859"/>
            <a:ext cx="41205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Consistency (Hallucinations)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42014" y="488727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ROUGE and BERTScore show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correlation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human annotators.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achieves state-of-the-art correlation by using NLI against the source document.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4579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9847"/>
            <a:ext cx="10345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Conclusion: A Composite Approach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87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single metric is perfect for evaluating modern summarization systems. The field's evolution points to: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968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914894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765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ROUGE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25577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lexical baseline, best for extractive systems.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914894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765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BERTScore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25577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fluency and meaning preservation for abstractive models.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914894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765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SummaC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25577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Reference-free NLI verification to guarantee factual integrity.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93790" y="62367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2026-04-28T02:26:01Z</dcterms:created>
  <dcterms:modified xsi:type="dcterms:W3CDTF">2026-04-28T02:26:01Z</dcterms:modified>
</cp:coreProperties>
</file>